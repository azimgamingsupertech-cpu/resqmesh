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1051560"/>
            <a:ext cx="1325880" cy="1325880"/>
          </a:xfrm>
          <a:prstGeom prst="ellipse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148840"/>
            <a:ext cx="685800" cy="685800"/>
          </a:xfrm>
          <a:prstGeom prst="ellipse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2788920"/>
            <a:ext cx="438912" cy="438912"/>
          </a:xfrm>
          <a:prstGeom prst="ellipse">
            <a:avLst/>
          </a:prstGeom>
          <a:solidFill>
            <a:srgbClr val="60D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3703320"/>
            <a:ext cx="914400" cy="914400"/>
          </a:xfrm>
          <a:prstGeom prst="ellipse">
            <a:avLst/>
          </a:prstGeom>
          <a:solidFill>
            <a:srgbClr val="FF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5DCDE"/>
                </a:solidFill>
                <a:latin typeface="Aptos"/>
              </a:defRPr>
            </a:pPr>
            <a:r>
              <a:t>OPCODE IMPACT 2026  •  HACKATHON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1323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4600" b="1">
                <a:solidFill>
                  <a:srgbClr val="F2F7FC"/>
                </a:solidFill>
                <a:latin typeface="Aptos"/>
              </a:defRPr>
            </a:pPr>
            <a:r>
              <a:t>ResQMesh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6751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A6B8CB"/>
                </a:solidFill>
                <a:latin typeface="Aptos"/>
              </a:defRPr>
            </a:pPr>
            <a:r>
              <a:t>Offline Disaster Response</a:t>
            </a:r>
          </a:p>
          <a:p>
            <a:pPr>
              <a:spcAft>
                <a:spcPts val="700"/>
              </a:spcAft>
              <a:defRPr sz="2500" b="1">
                <a:solidFill>
                  <a:srgbClr val="A6B8CB"/>
                </a:solidFill>
                <a:latin typeface="Aptos"/>
              </a:defRPr>
            </a:pPr>
            <a:r>
              <a:t>&amp; SOS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60520"/>
            <a:ext cx="5120640" cy="68580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25112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CDE"/>
                </a:solidFill>
                <a:latin typeface="Aptos"/>
              </a:defRPr>
            </a:pPr>
            <a:r>
              <a:t>TEAM ID  OPC014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26480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7FC"/>
                </a:solidFill>
                <a:latin typeface="Aptos"/>
              </a:defRPr>
            </a:pPr>
            <a:r>
              <a:t>Local-first emergency reporting when internet access is unavailable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26364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6B8CB"/>
                </a:solidFill>
                <a:latin typeface="Apto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The problem: emergencies go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FAE42"/>
                </a:solidFill>
                <a:latin typeface="Aptos"/>
              </a:defRPr>
            </a:pPr>
            <a:r>
              <a:t>When networks fail, help can be hard to 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486400" cy="3383280"/>
          </a:xfrm>
          <a:prstGeom prst="rect">
            <a:avLst/>
          </a:prstGeom>
          <a:noFill/>
        </p:spPr>
        <p:txBody>
          <a:bodyPr wrap="square" lIns="18288" rIns="45720" tIns="18288" bIns="18288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2F7FC"/>
                </a:solidFill>
                <a:latin typeface="Aptos"/>
              </a:defRPr>
            </a:pPr>
            <a:r>
              <a:t>•  Natural disasters can disrupt mobile internet and conventional communication.</a:t>
            </a:r>
          </a:p>
          <a:p>
            <a:pPr>
              <a:spcAft>
                <a:spcPts val="700"/>
              </a:spcAft>
              <a:defRPr sz="1800">
                <a:solidFill>
                  <a:srgbClr val="F2F7FC"/>
                </a:solidFill>
                <a:latin typeface="Aptos"/>
              </a:defRPr>
            </a:pPr>
            <a:r>
              <a:t>•  People may be unable to send emergency requests.</a:t>
            </a:r>
          </a:p>
          <a:p>
            <a:pPr>
              <a:spcAft>
                <a:spcPts val="700"/>
              </a:spcAft>
              <a:defRPr sz="1800">
                <a:solidFill>
                  <a:srgbClr val="F2F7FC"/>
                </a:solidFill>
                <a:latin typeface="Aptos"/>
              </a:defRPr>
            </a:pPr>
            <a:r>
              <a:t>•  Responders may lack a clear way to view, prioritize and manage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828800"/>
            <a:ext cx="4754880" cy="356616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7" y="1993392"/>
            <a:ext cx="43525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5DCDE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7" y="2423160"/>
            <a:ext cx="4352544" cy="2852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2F7FC"/>
                </a:solidFill>
                <a:latin typeface="Aptos"/>
              </a:defRPr>
            </a:pPr>
            <a:r>
              <a:t>Explore a local-first reporting workflow that can work across nearby devices without relying on a cloud service for the intended local-network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Meet ResQMesh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2F7FC"/>
                </a:solidFill>
                <a:latin typeface="Aptos"/>
              </a:defRPr>
            </a:pPr>
            <a:r>
              <a:t>An offline-first emergency SOS prototype with a local response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2560320" cy="224028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77063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5DCDE"/>
                </a:solidFill>
                <a:latin typeface="Aptos"/>
              </a:defRPr>
            </a:pPr>
            <a:r>
              <a:t>01 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200400"/>
            <a:ext cx="2157984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Mobile-friendly SOS form for emergency details and optional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606040"/>
            <a:ext cx="2560320" cy="224028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77063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AE42"/>
                </a:solidFill>
                <a:latin typeface="Aptos"/>
              </a:defRPr>
            </a:pPr>
            <a:r>
              <a:t>02  RECEIVE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3200400"/>
            <a:ext cx="2157984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Laptop-hosted Python / Flask endpoint intended to receive reports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606040"/>
            <a:ext cx="2560320" cy="224028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77063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0DCA1"/>
                </a:solidFill>
                <a:latin typeface="Aptos"/>
              </a:defRPr>
            </a:pPr>
            <a:r>
              <a:t>03  MANAGE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200400"/>
            <a:ext cx="2157984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SQLite database and Streamlit dashboard for incident viewing.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606040"/>
            <a:ext cx="2560320" cy="224028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277063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5F6D"/>
                </a:solidFill>
                <a:latin typeface="Aptos"/>
              </a:defRPr>
            </a:pPr>
            <a:r>
              <a:t>04 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3200400"/>
            <a:ext cx="2157984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Browser-side pending queue and manual retry when delivery fails.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6B8CB"/>
                </a:solidFill>
                <a:latin typeface="Aptos"/>
              </a:defRPr>
            </a:pPr>
            <a:r>
              <a:t>Design principle: keep the reporting flow local-first; do not assume delivery until it is verified.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How the intended flow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66928" cy="566928"/>
          </a:xfrm>
          <a:prstGeom prst="round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5669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80F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73352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7FC"/>
                </a:solidFill>
                <a:latin typeface="Aptos"/>
              </a:defRPr>
            </a:pPr>
            <a:r>
              <a:t>Open SOS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673352"/>
            <a:ext cx="7543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8CB"/>
                </a:solidFill>
                <a:latin typeface="Aptos"/>
              </a:defRPr>
            </a:pPr>
            <a:r>
              <a:t>Phone joins the same reachable local network as the laptop.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5" y="2258568"/>
            <a:ext cx="22860" cy="237744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532888"/>
            <a:ext cx="566928" cy="566928"/>
          </a:xfrm>
          <a:prstGeom prst="round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669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80F1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7FC"/>
                </a:solidFill>
                <a:latin typeface="Aptos"/>
              </a:defRPr>
            </a:pPr>
            <a:r>
              <a:t>Enter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14600"/>
            <a:ext cx="7543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8CB"/>
                </a:solidFill>
                <a:latin typeface="Aptos"/>
              </a:defRPr>
            </a:pPr>
            <a:r>
              <a:t>User adds emergency type, details and available location.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5" y="3099816"/>
            <a:ext cx="22860" cy="237744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6"/>
            <a:ext cx="566928" cy="566928"/>
          </a:xfrm>
          <a:prstGeom prst="round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8"/>
            <a:ext cx="5669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80F1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558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7FC"/>
                </a:solidFill>
                <a:latin typeface="Aptos"/>
              </a:defRPr>
            </a:pPr>
            <a:r>
              <a:t>Send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355848"/>
            <a:ext cx="7543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8CB"/>
                </a:solidFill>
                <a:latin typeface="Aptos"/>
              </a:defRPr>
            </a:pPr>
            <a:r>
              <a:t>Page sends the report to the laptop's Flask endpoint.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5" y="3941064"/>
            <a:ext cx="22860" cy="237744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215384"/>
            <a:ext cx="566928" cy="566928"/>
          </a:xfrm>
          <a:prstGeom prst="roundRect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88536"/>
            <a:ext cx="5669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80F1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97096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7FC"/>
                </a:solidFill>
                <a:latin typeface="Aptos"/>
              </a:defRPr>
            </a:pPr>
            <a:r>
              <a:t>Store &amp;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97096"/>
            <a:ext cx="7543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8CB"/>
                </a:solidFill>
                <a:latin typeface="Aptos"/>
              </a:defRPr>
            </a:pPr>
            <a:r>
              <a:t>If received, the report is saved locally for the dashboard.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5" y="4782312"/>
            <a:ext cx="22860" cy="237744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056632"/>
            <a:ext cx="566928" cy="566928"/>
          </a:xfrm>
          <a:prstGeom prst="roundRect">
            <a:avLst/>
          </a:prstGeom>
          <a:solidFill>
            <a:srgbClr val="FF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29784"/>
            <a:ext cx="5669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80F1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038344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7FC"/>
                </a:solidFill>
                <a:latin typeface="Aptos"/>
              </a:defRPr>
            </a:pPr>
            <a:r>
              <a:t>Retry if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038344"/>
            <a:ext cx="7543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8CB"/>
                </a:solidFill>
                <a:latin typeface="Aptos"/>
              </a:defRPr>
            </a:pPr>
            <a:r>
              <a:t>If sending fails, the message stays pending for manual retry.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989320"/>
            <a:ext cx="10607040" cy="384048"/>
          </a:xfrm>
          <a:prstGeom prst="roundRect">
            <a:avLst/>
          </a:prstGeom>
          <a:solidFill>
            <a:srgbClr val="301F25"/>
          </a:solidFill>
          <a:ln w="15240">
            <a:solidFill>
              <a:srgbClr val="FF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6053328"/>
            <a:ext cx="10149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5F6D"/>
                </a:solidFill>
                <a:latin typeface="Aptos"/>
              </a:defRPr>
            </a:pPr>
            <a:r>
              <a:t>Important: end-to-end SOS delivery was NOT confirmed in the latest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Prototype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057400" cy="114300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25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25DCDE"/>
                </a:solidFill>
                <a:latin typeface="Aptos"/>
              </a:defRPr>
            </a:pPr>
            <a:r>
              <a:t>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783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  <a:latin typeface="Aptos"/>
              </a:defRPr>
            </a:pPr>
            <a:r>
              <a:t>Mobile SOS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148840" cy="114300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76272"/>
            <a:ext cx="1874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AE42"/>
                </a:solidFill>
                <a:latin typeface="Aptos"/>
              </a:defRPr>
            </a:pPr>
            <a:r>
              <a:t>LOCAL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18745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  <a:latin typeface="Aptos"/>
              </a:defRPr>
            </a:pPr>
            <a:r>
              <a:t>Hotspot / 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2148840" cy="114300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60DC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76272"/>
            <a:ext cx="1874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0DCA1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18745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  <a:latin typeface="Aptos"/>
              </a:defRPr>
            </a:pPr>
            <a:r>
              <a:t>Local HTTP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011680"/>
            <a:ext cx="2423160" cy="114300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25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76272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25DCDE"/>
                </a:solidFill>
                <a:latin typeface="Aptos"/>
              </a:defRPr>
            </a:pPr>
            <a:r>
              <a:t>LOCAL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14600"/>
            <a:ext cx="2148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  <a:latin typeface="Aptos"/>
              </a:defRPr>
            </a:pPr>
            <a:r>
              <a:t>SQLite + dashboard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43200" y="2395728"/>
            <a:ext cx="548639" cy="292608"/>
          </a:xfrm>
          <a:prstGeom prst="rightArrow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532120" y="2395728"/>
            <a:ext cx="594360" cy="292608"/>
          </a:xfrm>
          <a:prstGeom prst="rightArrow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366760" y="2395728"/>
            <a:ext cx="594360" cy="292608"/>
          </a:xfrm>
          <a:prstGeom prst="rightArrow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886200"/>
            <a:ext cx="4754880" cy="123444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4050791"/>
            <a:ext cx="43525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AE42"/>
                </a:solidFill>
                <a:latin typeface="Aptos"/>
              </a:defRPr>
            </a:pPr>
            <a:r>
              <a:t>RELIABILITY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480560"/>
            <a:ext cx="4352544" cy="521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Browser pending queue + manual retry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86200"/>
            <a:ext cx="4754880" cy="123444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050791"/>
            <a:ext cx="43525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5F6D"/>
                </a:solidFill>
                <a:latin typeface="Aptos"/>
              </a:defRPr>
            </a:pPr>
            <a:r>
              <a:t>SEPARATE DEMO COMPONENT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480560"/>
            <a:ext cx="4352544" cy="521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C"/>
                </a:solidFill>
                <a:latin typeface="Aptos"/>
              </a:defRPr>
            </a:pPr>
            <a:r>
              <a:t>Mesh simulator shows illustrative routes only; no physical relaying.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5778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A6B8CB"/>
                </a:solidFill>
                <a:latin typeface="Aptos"/>
              </a:defRPr>
            </a:pPr>
            <a:r>
              <a:t>This is a local-network proof of concept—not a verified physical mesh network.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788920" cy="566928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25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CDE"/>
                </a:solidFill>
                <a:latin typeface="Aptos"/>
              </a:defRPr>
            </a:pPr>
            <a:r>
              <a:t>Python + Flask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783080"/>
            <a:ext cx="7040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Laptop-hosted mobile SOS service and local HTTP 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42032"/>
            <a:ext cx="2788920" cy="566928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79192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AE42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633472"/>
            <a:ext cx="7040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Response dashboard for viewing and managing incidents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92424"/>
            <a:ext cx="2788920" cy="566928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60DC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29584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0DCA1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483864"/>
            <a:ext cx="7040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Local incident data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42816"/>
            <a:ext cx="2788920" cy="566928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FF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7997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5F6D"/>
                </a:solidFill>
                <a:latin typeface="Aptos"/>
              </a:defRPr>
            </a:pPr>
            <a:r>
              <a:t>Browser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334256"/>
            <a:ext cx="7040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Pending SOS queue and manual retry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93208"/>
            <a:ext cx="2788920" cy="566928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25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30368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5DCDE"/>
                </a:solidFill>
                <a:latin typeface="Aptos"/>
              </a:defRPr>
            </a:pPr>
            <a:r>
              <a:t>Mesh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5184648"/>
            <a:ext cx="7040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Illustrative relay routes for concept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Current status: what works vs. what remains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356616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01952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0DCA1"/>
                </a:solidFill>
                <a:latin typeface="Aptos"/>
              </a:defRPr>
            </a:pPr>
            <a:r>
              <a:t>IMPLEMENTED / PREPARED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4809744" cy="2852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Laptop-based incident dashboard and local database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Mobile SOS web interface hosted by laptop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Local HTTP endpoint prepared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Browser pending queue and retry control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Simulated mesh-relay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212080" cy="356616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901952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5F6D"/>
                </a:solidFill>
                <a:latin typeface="Aptos"/>
              </a:defRPr>
            </a:pPr>
            <a:r>
              <a:t>NOT YET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331720"/>
            <a:ext cx="4809744" cy="2852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SOS remained pending in latest test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No matching request appeared in laptop inbox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No functioning Bluetooth / Wi-Fi Direct mesh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Automatic multi-phone relaying is future work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• Not validated for real emergencies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AE42"/>
                </a:solidFill>
                <a:latin typeface="Aptos"/>
              </a:defRPr>
            </a:pPr>
            <a:r>
              <a:t>Transparent status is part of the demo: prepared components are not the same as verified end-to-end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Innovation &amp; potential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315468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5DCDE"/>
                </a:solidFill>
                <a:latin typeface="Aptos"/>
              </a:defRPr>
            </a:pPr>
            <a:r>
              <a:t>LOCAL-FIRST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3026664" cy="2441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Keeps the interface and response dashboard on nearby devices for the intended local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315468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933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AE42"/>
                </a:solidFill>
                <a:latin typeface="Aptos"/>
              </a:defRPr>
            </a:pPr>
            <a:r>
              <a:t>RESILIENT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423160"/>
            <a:ext cx="3026664" cy="2441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Explores retaining reports when delivery is temporarily unavailable, with pending queue and retry.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29000" cy="315468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933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0DCA1"/>
                </a:solidFill>
                <a:latin typeface="Aptos"/>
              </a:defRPr>
            </a:pPr>
            <a:r>
              <a:t>MESH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423160"/>
            <a:ext cx="3026664" cy="2441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Future relay concept aims to reduce dependence on internet infrastructure during disasters.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7FC"/>
                </a:solidFill>
                <a:latin typeface="Aptos"/>
              </a:defRPr>
            </a:pPr>
            <a:r>
              <a:t>Potential value: improve the organization of emergency reports when conventional connectivity is disrupted.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Limitations we are addressing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2F7FC"/>
                </a:solidFill>
                <a:latin typeface="Aptos"/>
              </a:defRPr>
            </a:pPr>
            <a:r>
              <a:t>•  Phone-to-laptop SOS transfer is not verified end to end.</a:t>
            </a:r>
          </a:p>
          <a:p>
            <a:pPr>
              <a:spcAft>
                <a:spcPts val="1300"/>
              </a:spcAft>
              <a:defRPr sz="1700">
                <a:solidFill>
                  <a:srgbClr val="F2F7FC"/>
                </a:solidFill>
                <a:latin typeface="Aptos"/>
              </a:defRPr>
            </a:pPr>
            <a:r>
              <a:t>•  No functioning physical multi-hop mesh network yet; routes are simulated.</a:t>
            </a:r>
          </a:p>
          <a:p>
            <a:pPr>
              <a:spcAft>
                <a:spcPts val="1300"/>
              </a:spcAft>
              <a:defRPr sz="1700">
                <a:solidFill>
                  <a:srgbClr val="F2F7FC"/>
                </a:solidFill>
                <a:latin typeface="Aptos"/>
              </a:defRPr>
            </a:pPr>
            <a:r>
              <a:t>•  GPS access may be restricted over plain local HTTP; manual location may be needed.</a:t>
            </a:r>
          </a:p>
          <a:p>
            <a:pPr>
              <a:spcAft>
                <a:spcPts val="1300"/>
              </a:spcAft>
              <a:defRPr sz="1700">
                <a:solidFill>
                  <a:srgbClr val="F2F7FC"/>
                </a:solidFill>
                <a:latin typeface="Aptos"/>
              </a:defRPr>
            </a:pPr>
            <a:r>
              <a:t>•  Browser storage can be cleared, and dashboard only shows records saved locally.</a:t>
            </a:r>
          </a:p>
          <a:p>
            <a:pPr>
              <a:spcAft>
                <a:spcPts val="1300"/>
              </a:spcAft>
              <a:defRPr sz="1700">
                <a:solidFill>
                  <a:srgbClr val="F2F7FC"/>
                </a:solidFill>
                <a:latin typeface="Aptos"/>
              </a:defRPr>
            </a:pPr>
            <a:r>
              <a:t>•  The prototype is experimental and is not a certified emergency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Roadmap: from prototype to tested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2057400" cy="324612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29968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FAE42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17373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Diagnose local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401568"/>
            <a:ext cx="17373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B"/>
                </a:solidFill>
                <a:latin typeface="Aptos"/>
              </a:defRPr>
            </a:pPr>
            <a:r>
              <a:t>Verify endpoint, firewall, network reachability and server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1828800"/>
            <a:ext cx="2057400" cy="324612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25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2029968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514600"/>
            <a:ext cx="17373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Prove acknowledgement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3401568"/>
            <a:ext cx="17373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B"/>
                </a:solidFill>
                <a:latin typeface="Aptos"/>
              </a:defRPr>
            </a:pPr>
            <a:r>
              <a:t>Show clear delivery state and confirm each SOS reaches the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1828800"/>
            <a:ext cx="2057400" cy="324612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60DC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6" y="2029968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0DCA1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1536" y="2514600"/>
            <a:ext cx="17373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Add offline 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3401568"/>
            <a:ext cx="17373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B"/>
                </a:solidFill>
                <a:latin typeface="Aptos"/>
              </a:defRPr>
            </a:pPr>
            <a:r>
              <a:t>Test Bluetooth or Wi-Fi Direct where supported.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2" y="1828800"/>
            <a:ext cx="2057400" cy="324612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FF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2029968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F5F6D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2514600"/>
            <a:ext cx="17373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Reliable relaying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3401568"/>
            <a:ext cx="17373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B"/>
                </a:solidFill>
                <a:latin typeface="Aptos"/>
              </a:defRPr>
            </a:pPr>
            <a:r>
              <a:t>Add multi-hop relay, deduplication, expiry and store-and-forward sync.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828800"/>
            <a:ext cx="2057400" cy="324612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25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2029968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2514600"/>
            <a:ext cx="17373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Test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3401568"/>
            <a:ext cx="17373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B"/>
                </a:solidFill>
                <a:latin typeface="Aptos"/>
              </a:defRPr>
            </a:pPr>
            <a:r>
              <a:t>Use multiple devices, controlled outages, privacy controls and security protections.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DCDE"/>
                </a:solidFill>
                <a:latin typeface="Aptos"/>
              </a:defRPr>
            </a:pPr>
            <a:r>
              <a:t>RESQMESH  /  OPCODE IMPACT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2F7FC"/>
                </a:solidFill>
                <a:latin typeface="Aptos"/>
              </a:defRPr>
            </a:pPr>
            <a:r>
              <a:t>Demo plan &amp;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41148"/>
          </a:xfrm>
          <a:prstGeom prst="rect">
            <a:avLst/>
          </a:prstGeom>
          <a:solidFill>
            <a:srgbClr val="25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352044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47672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5DCDE"/>
                </a:solidFill>
                <a:latin typeface="Aptos"/>
              </a:defRPr>
            </a:pPr>
            <a:r>
              <a:t>LIVE DEMO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4809744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1. Start Streamlit dashboard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2. Start the Flask SOS service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3. Connect phone and laptop to the same local network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4. Submit a clearly labelled test SOS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5. Check server logs and dashboard inbox</a:t>
            </a: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6. If pending, show retry + explain the limitation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212080" cy="3520440"/>
          </a:xfrm>
          <a:prstGeom prst="roundRect">
            <a:avLst/>
          </a:prstGeom>
          <a:solidFill>
            <a:srgbClr val="10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947672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AE42"/>
                </a:solidFill>
                <a:latin typeface="Aptos"/>
              </a:defRPr>
            </a:pPr>
            <a:r>
              <a:t>PROJECT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377440"/>
            <a:ext cx="4809744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Project: ResQMesh</a:t>
            </a:r>
          </a:p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Event: OPCODE IMPACT 2026</a:t>
            </a:r>
          </a:p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Team ID: OPC014</a:t>
            </a:r>
          </a:p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Team contributions: not specified in the supplied README; add member names and roles before presenting.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B"/>
                </a:solidFill>
                <a:latin typeface="Aptos"/>
              </a:defRPr>
            </a:pPr>
            <a:r>
              <a:t>Demo responsibly: use test data only; do not enter real personal emergency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6B8CB"/>
                </a:solidFill>
                <a:latin typeface="Aptos"/>
              </a:defRPr>
            </a:pPr>
            <a:r>
              <a:t>OPC014  •  EXPERIMENTAL HACKATHON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5DCD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5DCDE"/>
                </a:solidFill>
                <a:latin typeface="Aptos"/>
              </a:defRPr>
            </a:pPr>
            <a:r>
              <a:t>OPCODE IMPACT 2026  •  TEAM OPC014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3152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4400" b="1">
                <a:solidFill>
                  <a:srgbClr val="F2F7FC"/>
                </a:solidFill>
                <a:latin typeface="Aptos"/>
              </a:defRPr>
            </a:pPr>
            <a:r>
              <a:t>ResQMesh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80467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A6B8CB"/>
                </a:solidFill>
                <a:latin typeface="Aptos"/>
              </a:defRPr>
            </a:pPr>
            <a:r>
              <a:t>A local-first step toward resilient</a:t>
            </a:r>
          </a:p>
          <a:p>
            <a:pPr>
              <a:spcAft>
                <a:spcPts val="700"/>
              </a:spcAft>
              <a:defRPr sz="2500" b="1">
                <a:solidFill>
                  <a:srgbClr val="A6B8CB"/>
                </a:solidFill>
                <a:latin typeface="Aptos"/>
              </a:defRPr>
            </a:pPr>
            <a:r>
              <a:t>disaster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60520"/>
            <a:ext cx="7132320" cy="868680"/>
          </a:xfrm>
          <a:prstGeom prst="roundRect">
            <a:avLst/>
          </a:prstGeom>
          <a:solidFill>
            <a:srgbClr val="101D2F"/>
          </a:solidFill>
          <a:ln w="15240">
            <a:solidFill>
              <a:srgbClr val="25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370832"/>
            <a:ext cx="6583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5DCDE"/>
                </a:solidFill>
                <a:latin typeface="Aptos"/>
              </a:defRPr>
            </a:pPr>
            <a:r>
              <a:t>Build locally. Verify delivery. Relay reliably.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9601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AE42"/>
                </a:solidFill>
                <a:latin typeface="Aptos"/>
              </a:defRPr>
            </a:pPr>
            <a:r>
              <a:t>Experimental prototype • Not for real emergency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263640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6B8CB"/>
                </a:solidFill>
                <a:latin typeface="Apto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