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Props1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viewProps1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1975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95160" cy="6858000"/>
          </a:xfrm>
          <a:prstGeom prst="rect">
            <a:avLst/>
          </a:prstGeom>
          <a:solidFill>
            <a:srgbClr val="08204B"/>
          </a:solidFill>
          <a:ln>
            <a:solidFill>
              <a:srgbClr val="082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E911A"/>
          </a:solidFill>
          <a:ln>
            <a:solidFill>
              <a:srgbClr val="EE91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557784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ptos"/>
              </a:rPr>
              <a:t>OPCODE IMPACT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539496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34AADC"/>
                </a:solidFill>
                <a:latin typeface="Aptos"/>
              </a:rPr>
              <a:t>24-HOUR NATIONAL LEVEL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566928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ptos"/>
              </a:rPr>
              <a:t>ResQMesh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926080"/>
            <a:ext cx="5760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800" b="0" i="0">
                <a:solidFill>
                  <a:srgbClr val="DCE8F8"/>
                </a:solidFill>
                <a:latin typeface="Aptos"/>
              </a:rPr>
              <a:t>Offline Disaster Response and SOS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502152"/>
            <a:ext cx="502920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EE911A"/>
                </a:solidFill>
                <a:latin typeface="Aptos"/>
              </a:rPr>
              <a:t>Secure Today, Sustain Tomorrow.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224528"/>
            <a:ext cx="5440680" cy="1417320"/>
          </a:xfrm>
          <a:prstGeom prst="roundRect">
            <a:avLst/>
          </a:prstGeom>
          <a:solidFill>
            <a:srgbClr val="11305F"/>
          </a:solidFill>
          <a:ln>
            <a:solidFill>
              <a:srgbClr val="37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462272"/>
            <a:ext cx="1143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34AADC"/>
                </a:solidFill>
                <a:latin typeface="Aptos"/>
              </a:rPr>
              <a:t>TEAM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3392" y="4407408"/>
            <a:ext cx="3566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The Innovators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956048"/>
            <a:ext cx="1143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34AADC"/>
                </a:solidFill>
                <a:latin typeface="Aptos"/>
              </a:rPr>
              <a:t>TRACK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93392" y="4882896"/>
            <a:ext cx="3566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ptos"/>
              </a:rPr>
              <a:t>SDG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20" y="438912"/>
            <a:ext cx="4343400" cy="5980176"/>
          </a:xfrm>
          <a:prstGeom prst="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35240" y="5806440"/>
            <a:ext cx="3794760" cy="384048"/>
          </a:xfrm>
          <a:prstGeom prst="roundRect">
            <a:avLst/>
          </a:prstGeom>
          <a:solidFill>
            <a:srgbClr val="08204B"/>
          </a:solidFill>
          <a:ln>
            <a:solidFill>
              <a:srgbClr val="082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08392" y="5879592"/>
            <a:ext cx="363931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9–10 OCTOBER 2026  •  JYOTHI ENGINEERING COLLEGE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236208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000" b="0" i="1">
                <a:solidFill>
                  <a:srgbClr val="AFC3E1"/>
                </a:solidFill>
                <a:latin typeface="Aptos"/>
              </a:rPr>
              <a:t>Proof of concept  •  hackathon prototype</a:t>
            </a:r>
          </a:p>
        </p:txBody>
      </p:sp>
      <p:pic>
        <p:nvPicPr>
          <p:cNvPr id="20" name="Picture 19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2217" y="548640"/>
            <a:ext cx="166080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60BE"/>
          </a:solidFill>
          <a:ln>
            <a:solidFill>
              <a:srgbClr val="14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8696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8204B"/>
                </a:solidFill>
                <a:latin typeface="Aptos"/>
              </a:rP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789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C697A"/>
                </a:solidFill>
                <a:latin typeface="Aptos"/>
              </a:rPr>
              <a:t>When networks fail, SOS requests and incident triage break down.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5087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1" i="0">
                <a:solidFill>
                  <a:srgbClr val="1460BE"/>
                </a:solidFill>
                <a:latin typeface="Aptos"/>
              </a:rPr>
              <a:t>CHALLENGE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127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481328"/>
            <a:ext cx="6812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81328"/>
            <a:ext cx="64008" cy="1325880"/>
          </a:xfrm>
          <a:prstGeom prst="rect">
            <a:avLst/>
          </a:prstGeom>
          <a:solidFill>
            <a:srgbClr val="EE911A"/>
          </a:solidFill>
          <a:ln>
            <a:solidFill>
              <a:srgbClr val="EE91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645920"/>
            <a:ext cx="646480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8204B"/>
                </a:solidFill>
                <a:latin typeface="Aptos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057400"/>
            <a:ext cx="6464808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350" b="0" i="0">
                <a:solidFill>
                  <a:srgbClr val="5C697A"/>
                </a:solidFill>
                <a:latin typeface="Aptos"/>
              </a:rPr>
              <a:t>During natural disasters, mobile internet and conventional networks may fail or become unreliable. People cannot request help, and responders lack a clear way to view, prioritise and manage reports.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990088"/>
            <a:ext cx="32461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990088"/>
            <a:ext cx="64008" cy="2057400"/>
          </a:xfrm>
          <a:prstGeom prst="rect">
            <a:avLst/>
          </a:prstGeom>
          <a:solidFill>
            <a:srgbClr val="1460BE"/>
          </a:solidFill>
          <a:ln>
            <a:solidFill>
              <a:srgbClr val="14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154680"/>
            <a:ext cx="289864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8204B"/>
                </a:solidFill>
                <a:latin typeface="Aptos"/>
              </a:rPr>
              <a:t>Who is affected?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566160"/>
            <a:ext cx="2898648" cy="1362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5C697A"/>
                </a:solidFill>
                <a:latin typeface="Aptos"/>
              </a:rPr>
              <a:t>• People needing rescue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5C697A"/>
                </a:solidFill>
                <a:latin typeface="Aptos"/>
              </a:rPr>
              <a:t>• Responders / command centre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5C697A"/>
                </a:solidFill>
                <a:latin typeface="Aptos"/>
              </a:rPr>
              <a:t>• Affected communities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5C697A"/>
                </a:solidFill>
                <a:latin typeface="Aptos"/>
              </a:rPr>
              <a:t>• Local relief coordination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87368" y="2990088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87368" y="2990088"/>
            <a:ext cx="64008" cy="2057400"/>
          </a:xfrm>
          <a:prstGeom prst="rect">
            <a:avLst/>
          </a:prstGeom>
          <a:solidFill>
            <a:srgbClr val="EE911A"/>
          </a:solidFill>
          <a:ln>
            <a:solidFill>
              <a:srgbClr val="EE91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88536" y="3154680"/>
            <a:ext cx="303580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8204B"/>
                </a:solidFill>
                <a:latin typeface="Aptos"/>
              </a:rPr>
              <a:t>Why does it matter?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8536" y="3566160"/>
            <a:ext cx="3035808" cy="1362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5C697A"/>
                </a:solidFill>
                <a:latin typeface="Aptos"/>
              </a:rPr>
              <a:t>• Delayed or lost SOS requests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5C697A"/>
                </a:solidFill>
                <a:latin typeface="Aptos"/>
              </a:rPr>
              <a:t>• Hard to prioritise incidents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5C697A"/>
                </a:solidFill>
                <a:latin typeface="Aptos"/>
              </a:rPr>
              <a:t>• Lives and safety at risk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5C697A"/>
                </a:solidFill>
                <a:latin typeface="Aptos"/>
              </a:rPr>
              <a:t>• SDG 11: disaster resilience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54112" y="1481328"/>
            <a:ext cx="3822191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54112" y="1481328"/>
            <a:ext cx="64008" cy="3566160"/>
          </a:xfrm>
          <a:prstGeom prst="rect">
            <a:avLst/>
          </a:prstGeom>
          <a:solidFill>
            <a:srgbClr val="218E5B"/>
          </a:solidFill>
          <a:ln>
            <a:solidFill>
              <a:srgbClr val="21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0" y="1645920"/>
            <a:ext cx="34747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8204B"/>
                </a:solidFill>
                <a:latin typeface="Aptos"/>
              </a:rPr>
              <a:t>Existing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2057400"/>
            <a:ext cx="3474720" cy="2871215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C697A"/>
                </a:solidFill>
                <a:latin typeface="Aptos"/>
              </a:rPr>
              <a:t>What is missing today?</a:t>
            </a:r>
          </a:p>
          <a:p>
            <a:pPr algn="l">
              <a:spcAft>
                <a:spcPts val="300"/>
              </a:spcAft>
            </a:pPr>
            <a:endParaRPr sz="1400"/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C697A"/>
                </a:solidFill>
                <a:latin typeface="Aptos"/>
              </a:rPr>
              <a:t>• Conventional channels depend on internet or cellular infrastructure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C697A"/>
                </a:solidFill>
                <a:latin typeface="Aptos"/>
              </a:rPr>
              <a:t>• No simple local-first way to capture SOS reports offline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C697A"/>
                </a:solidFill>
                <a:latin typeface="Aptos"/>
              </a:rPr>
              <a:t>• Responders lack one place to view and prioritise reports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C697A"/>
                </a:solidFill>
                <a:latin typeface="Aptos"/>
              </a:rPr>
              <a:t>• Usability: reporting should work from a phone browser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5440680"/>
            <a:ext cx="5486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100" b="0" i="1">
                <a:solidFill>
                  <a:srgbClr val="5C697A"/>
                </a:solidFill>
                <a:latin typeface="Aptos"/>
              </a:rPr>
              <a:t>Note: ResQMesh addresses reporting and triage; it is not a certified emergency service.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5C697A"/>
                </a:solidFill>
                <a:latin typeface="Aptos"/>
              </a:rPr>
              <a:t>OPCODE IMPACT 2026  •  24-Hour National Level Hackathon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1460BE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60BE"/>
          </a:solidFill>
          <a:ln>
            <a:solidFill>
              <a:srgbClr val="14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8696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8204B"/>
                </a:solidFill>
                <a:latin typeface="Aptos"/>
              </a:rPr>
              <a:t>2.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789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C697A"/>
                </a:solidFill>
                <a:latin typeface="Aptos"/>
              </a:rPr>
              <a:t>An offline-first SOS capture and response dashboard prototype.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5087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1" i="0">
                <a:solidFill>
                  <a:srgbClr val="1460BE"/>
                </a:solidFill>
                <a:latin typeface="Aptos"/>
              </a:rPr>
              <a:t>SOLUTION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127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481328"/>
            <a:ext cx="10972800" cy="960120"/>
          </a:xfrm>
          <a:prstGeom prst="roundRect">
            <a:avLst/>
          </a:prstGeom>
          <a:solidFill>
            <a:srgbClr val="E7F2FF"/>
          </a:solidFill>
          <a:ln>
            <a:solidFill>
              <a:srgbClr val="E7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19072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2100" b="1" i="0">
                <a:solidFill>
                  <a:srgbClr val="08204B"/>
                </a:solidFill>
                <a:latin typeface="Aptos"/>
              </a:rPr>
              <a:t>ResQMesh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709928"/>
            <a:ext cx="65836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400" b="0" i="0">
                <a:solidFill>
                  <a:srgbClr val="5C697A"/>
                </a:solidFill>
                <a:latin typeface="Aptos"/>
              </a:rPr>
              <a:t>Offline-first SOS capture on a phone, with a laptop dashboard to organise incident response.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743200"/>
            <a:ext cx="257860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743200"/>
            <a:ext cx="64008" cy="1874519"/>
          </a:xfrm>
          <a:prstGeom prst="rect">
            <a:avLst/>
          </a:prstGeom>
          <a:solidFill>
            <a:srgbClr val="1460BE"/>
          </a:solidFill>
          <a:ln>
            <a:solidFill>
              <a:srgbClr val="14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907792"/>
            <a:ext cx="223113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500" b="1" i="0">
                <a:solidFill>
                  <a:srgbClr val="08204B"/>
                </a:solidFill>
                <a:latin typeface="Aptos"/>
              </a:rPr>
              <a:t>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319272"/>
            <a:ext cx="2231136" cy="1179575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300" b="0" i="0">
                <a:solidFill>
                  <a:srgbClr val="5C697A"/>
                </a:solidFill>
                <a:latin typeface="Aptos"/>
              </a:rPr>
              <a:t>Mobile SOS form with emergency type, details and optional location.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2743200"/>
            <a:ext cx="257860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19856" y="2743200"/>
            <a:ext cx="64008" cy="1874519"/>
          </a:xfrm>
          <a:prstGeom prst="rect">
            <a:avLst/>
          </a:prstGeom>
          <a:solidFill>
            <a:srgbClr val="EE911A"/>
          </a:solidFill>
          <a:ln>
            <a:solidFill>
              <a:srgbClr val="EE91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907792"/>
            <a:ext cx="223113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500" b="1" i="0">
                <a:solidFill>
                  <a:srgbClr val="08204B"/>
                </a:solidFill>
                <a:latin typeface="Aptos"/>
              </a:rPr>
              <a:t>Retain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3319272"/>
            <a:ext cx="2231136" cy="1179575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300" b="0" i="0">
                <a:solidFill>
                  <a:srgbClr val="5C697A"/>
                </a:solidFill>
                <a:latin typeface="Aptos"/>
              </a:rPr>
              <a:t>Unsent SOS stay in a browser pending queue, with manual retry.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2743200"/>
            <a:ext cx="257860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2743200"/>
            <a:ext cx="64008" cy="1874519"/>
          </a:xfrm>
          <a:prstGeom prst="rect">
            <a:avLst/>
          </a:prstGeom>
          <a:solidFill>
            <a:srgbClr val="218E5B"/>
          </a:solidFill>
          <a:ln>
            <a:solidFill>
              <a:srgbClr val="21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907792"/>
            <a:ext cx="223113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500" b="1" i="0">
                <a:solidFill>
                  <a:srgbClr val="08204B"/>
                </a:solidFill>
                <a:latin typeface="Aptos"/>
              </a:rPr>
              <a:t>Respond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319272"/>
            <a:ext cx="2231136" cy="1179575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300" b="0" i="0">
                <a:solidFill>
                  <a:srgbClr val="5C697A"/>
                </a:solidFill>
                <a:latin typeface="Aptos"/>
              </a:rPr>
              <a:t>Laptop stores reports in SQLite; Streamlit dashboard supports triage.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42832" y="2743200"/>
            <a:ext cx="257860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42832" y="2743200"/>
            <a:ext cx="64008" cy="1874519"/>
          </a:xfrm>
          <a:prstGeom prst="rect">
            <a:avLst/>
          </a:prstGeom>
          <a:solidFill>
            <a:srgbClr val="34AADC"/>
          </a:solidFill>
          <a:ln>
            <a:solidFill>
              <a:srgbClr val="34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2907792"/>
            <a:ext cx="223113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500" b="1" i="0">
                <a:solidFill>
                  <a:srgbClr val="08204B"/>
                </a:solidFill>
                <a:latin typeface="Aptos"/>
              </a:rPr>
              <a:t>Sustain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319272"/>
            <a:ext cx="2231136" cy="1179575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300" b="0" i="0">
                <a:solidFill>
                  <a:srgbClr val="5C697A"/>
                </a:solidFill>
                <a:latin typeface="Aptos"/>
              </a:rPr>
              <a:t>Supports SDG 11 disaster resilience; mesh relay is future work.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983480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08204B"/>
                </a:solidFill>
                <a:latin typeface="Aptos"/>
              </a:rPr>
              <a:t>Key Innovation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4956048"/>
            <a:ext cx="87782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350" b="0" i="0">
                <a:solidFill>
                  <a:srgbClr val="5C697A"/>
                </a:solidFill>
                <a:latin typeface="Aptos"/>
              </a:rPr>
              <a:t>Local-first reporting: the SOS interface and response dashboard stay on nearby devices, with a retry queue for failed delivery. A mesh simulator illustrates future relay routes.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5C697A"/>
                </a:solidFill>
                <a:latin typeface="Aptos"/>
              </a:rPr>
              <a:t>OPCODE IMPACT 2026  •  24-Hour National Level Hackathon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1460BE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60BE"/>
          </a:solidFill>
          <a:ln>
            <a:solidFill>
              <a:srgbClr val="14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8696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8204B"/>
                </a:solidFill>
                <a:latin typeface="Aptos"/>
              </a:rPr>
              <a:t>3. System Architecture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789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150" b="0" i="0">
                <a:solidFill>
                  <a:srgbClr val="5C697A"/>
                </a:solidFill>
                <a:latin typeface="Aptos"/>
              </a:rPr>
              <a:t>Phone browser to laptop over a local connection; no internet or cloud needed for this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5087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1" i="0">
                <a:solidFill>
                  <a:srgbClr val="1460BE"/>
                </a:solidFill>
                <a:latin typeface="Aptos"/>
              </a:rPr>
              <a:t>ARCHITECTURE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127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417320"/>
            <a:ext cx="10972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011680"/>
            <a:ext cx="1828800" cy="777240"/>
          </a:xfrm>
          <a:prstGeom prst="roundRect">
            <a:avLst/>
          </a:prstGeom>
          <a:solidFill>
            <a:srgbClr val="E7F2FF"/>
          </a:solidFill>
          <a:ln>
            <a:solidFill>
              <a:srgbClr val="14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176272"/>
            <a:ext cx="1682496" cy="5486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50" b="1" i="0">
                <a:solidFill>
                  <a:srgbClr val="08204B"/>
                </a:solidFill>
                <a:latin typeface="Aptos"/>
              </a:rPr>
              <a:t>PHONE</a:t>
            </a:r>
          </a:p>
          <a:p>
            <a:pPr algn="ctr"/>
            <a:r>
              <a:rPr sz="1250" b="1" i="0">
                <a:solidFill>
                  <a:srgbClr val="08204B"/>
                </a:solidFill>
                <a:latin typeface="Aptos"/>
              </a:rPr>
              <a:t>SOS 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011680"/>
            <a:ext cx="1828800" cy="777240"/>
          </a:xfrm>
          <a:prstGeom prst="roundRect">
            <a:avLst/>
          </a:prstGeom>
          <a:solidFill>
            <a:srgbClr val="EEF6FF"/>
          </a:solidFill>
          <a:ln>
            <a:solidFill>
              <a:srgbClr val="14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2176272"/>
            <a:ext cx="1682496" cy="5486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50" b="1" i="0">
                <a:solidFill>
                  <a:srgbClr val="08204B"/>
                </a:solidFill>
                <a:latin typeface="Aptos"/>
              </a:rPr>
              <a:t>FLASK SERVER</a:t>
            </a:r>
          </a:p>
          <a:p>
            <a:pPr algn="ctr"/>
            <a:r>
              <a:rPr sz="1250" b="1" i="0">
                <a:solidFill>
                  <a:srgbClr val="08204B"/>
                </a:solidFill>
                <a:latin typeface="Aptos"/>
              </a:rPr>
              <a:t>(LAPTOP)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011680"/>
            <a:ext cx="1828800" cy="777240"/>
          </a:xfrm>
          <a:prstGeom prst="roundRect">
            <a:avLst/>
          </a:prstGeom>
          <a:solidFill>
            <a:srgbClr val="FFF5E3"/>
          </a:solidFill>
          <a:ln>
            <a:solidFill>
              <a:srgbClr val="14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16752" y="2176272"/>
            <a:ext cx="1682496" cy="5486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50" b="1" i="0">
                <a:solidFill>
                  <a:srgbClr val="08204B"/>
                </a:solidFill>
                <a:latin typeface="Aptos"/>
              </a:rPr>
              <a:t>SQLITE</a:t>
            </a:r>
          </a:p>
          <a:p>
            <a:pPr algn="ctr"/>
            <a:r>
              <a:rPr sz="1250" b="1" i="0">
                <a:solidFill>
                  <a:srgbClr val="08204B"/>
                </a:solidFill>
                <a:latin typeface="Aptos"/>
              </a:rPr>
              <a:t>DATABASE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2011680"/>
            <a:ext cx="1828800" cy="777240"/>
          </a:xfrm>
          <a:prstGeom prst="roundRect">
            <a:avLst/>
          </a:prstGeom>
          <a:solidFill>
            <a:srgbClr val="EAF8F1"/>
          </a:solidFill>
          <a:ln>
            <a:solidFill>
              <a:srgbClr val="14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1352" y="2176272"/>
            <a:ext cx="1682496" cy="5486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50" b="1" i="0">
                <a:solidFill>
                  <a:srgbClr val="08204B"/>
                </a:solidFill>
                <a:latin typeface="Aptos"/>
              </a:rPr>
              <a:t>STREAMLIT</a:t>
            </a:r>
          </a:p>
          <a:p>
            <a:pPr algn="ctr"/>
            <a:r>
              <a:rPr sz="1250" b="1" i="0">
                <a:solidFill>
                  <a:srgbClr val="08204B"/>
                </a:solidFill>
                <a:latin typeface="Aptos"/>
              </a:rPr>
              <a:t>DASHBOARD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43200" y="2404872"/>
            <a:ext cx="685800" cy="0"/>
          </a:xfrm>
          <a:prstGeom prst="line">
            <a:avLst/>
          </a:prstGeom>
          <a:ln w="27940">
            <a:solidFill>
              <a:srgbClr val="146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172968" y="2267712"/>
            <a:ext cx="274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460BE"/>
                </a:solidFill>
                <a:latin typeface="Aptos"/>
              </a:rPr>
              <a:t>→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57800" y="2404872"/>
            <a:ext cx="685800" cy="0"/>
          </a:xfrm>
          <a:prstGeom prst="line">
            <a:avLst/>
          </a:prstGeom>
          <a:ln w="27940">
            <a:solidFill>
              <a:srgbClr val="146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87568" y="2267712"/>
            <a:ext cx="274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460BE"/>
                </a:solidFill>
                <a:latin typeface="Aptos"/>
              </a:rPr>
              <a:t>→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0" y="2404872"/>
            <a:ext cx="685800" cy="0"/>
          </a:xfrm>
          <a:prstGeom prst="line">
            <a:avLst/>
          </a:prstGeom>
          <a:ln w="27940">
            <a:solidFill>
              <a:srgbClr val="146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02168" y="2267712"/>
            <a:ext cx="274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460BE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246120"/>
            <a:ext cx="103327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/>
            <a:r>
              <a:rPr sz="1300" b="0" i="0">
                <a:solidFill>
                  <a:srgbClr val="5C697A"/>
                </a:solidFill>
                <a:latin typeface="Aptos"/>
              </a:rPr>
              <a:t>Phone: SOS form, optional location, pending queue and retry  →  local connection  →  Flask SOS endpoint  →  SQLite storage  →  Streamlit response dashboard.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069080"/>
            <a:ext cx="23774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EE911A"/>
                </a:solidFill>
                <a:latin typeface="Aptos"/>
              </a:rPr>
              <a:t>Local Network Boundary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566160" y="4224528"/>
            <a:ext cx="7040880" cy="0"/>
          </a:xfrm>
          <a:prstGeom prst="line">
            <a:avLst/>
          </a:prstGeom>
          <a:ln w="22860">
            <a:solidFill>
              <a:srgbClr val="EE9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4572000"/>
            <a:ext cx="1024128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5C697A"/>
                </a:solidFill>
                <a:latin typeface="Aptos"/>
              </a:rPr>
              <a:t>Phone and laptop share a local hotspot or network; the server should never be exposed to the public internet.</a:t>
            </a:r>
          </a:p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5C697A"/>
                </a:solidFill>
                <a:latin typeface="Aptos"/>
              </a:rPr>
              <a:t>Mesh simulator is a separate demo component with simulated routes only (no physical relaying). End-to-end delivery is not yet verified.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5C697A"/>
                </a:solidFill>
                <a:latin typeface="Aptos"/>
              </a:rPr>
              <a:t>OPCODE IMPACT 2026  •  24-Hour National Level Hackathon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1460BE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60BE"/>
          </a:solidFill>
          <a:ln>
            <a:solidFill>
              <a:srgbClr val="14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8696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8204B"/>
                </a:solidFill>
                <a:latin typeface="Aptos"/>
              </a:rPr>
              <a:t>4. Technology Stack &amp; Security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789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C697A"/>
                </a:solidFill>
                <a:latin typeface="Aptos"/>
              </a:rPr>
              <a:t>Implementation choices and the current security status of the prototype.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5087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1" i="0">
                <a:solidFill>
                  <a:srgbClr val="1460BE"/>
                </a:solidFill>
                <a:latin typeface="Aptos"/>
              </a:rPr>
              <a:t>ENGINEERING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127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444752"/>
            <a:ext cx="5257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44752"/>
            <a:ext cx="64008" cy="1920240"/>
          </a:xfrm>
          <a:prstGeom prst="rect">
            <a:avLst/>
          </a:prstGeom>
          <a:solidFill>
            <a:srgbClr val="1460BE"/>
          </a:solidFill>
          <a:ln>
            <a:solidFill>
              <a:srgbClr val="14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609344"/>
            <a:ext cx="491032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8204B"/>
                </a:solidFill>
                <a:latin typeface="Aptos"/>
              </a:rPr>
              <a:t>Technology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020824"/>
            <a:ext cx="4910328" cy="12252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280" b="0" i="0">
                <a:solidFill>
                  <a:srgbClr val="5C697A"/>
                </a:solidFill>
                <a:latin typeface="Aptos"/>
              </a:rPr>
              <a:t>Frontend: HTML, CSS, JavaScript (mobile SOS page)</a:t>
            </a:r>
          </a:p>
          <a:p>
            <a:pPr algn="l"/>
            <a:r>
              <a:rPr sz="1280" b="0" i="0">
                <a:solidFill>
                  <a:srgbClr val="5C697A"/>
                </a:solidFill>
                <a:latin typeface="Aptos"/>
              </a:rPr>
              <a:t>Backend / APIs: Python, Flask (local SOS endpoint)</a:t>
            </a:r>
          </a:p>
          <a:p>
            <a:pPr algn="l"/>
            <a:r>
              <a:rPr sz="1280" b="0" i="0">
                <a:solidFill>
                  <a:srgbClr val="5C697A"/>
                </a:solidFill>
                <a:latin typeface="Aptos"/>
              </a:rPr>
              <a:t>Database / Storage: SQLite; browser pending queue</a:t>
            </a:r>
          </a:p>
          <a:p>
            <a:pPr algn="l"/>
            <a:r>
              <a:rPr sz="1280" b="0" i="0">
                <a:solidFill>
                  <a:srgbClr val="5C697A"/>
                </a:solidFill>
                <a:latin typeface="Aptos"/>
              </a:rPr>
              <a:t>Cloud / Edge / IoT: none; one laptop + one phone</a:t>
            </a:r>
          </a:p>
          <a:p>
            <a:pPr algn="l"/>
            <a:r>
              <a:rPr sz="1280" b="0" i="0">
                <a:solidFill>
                  <a:srgbClr val="5C697A"/>
                </a:solidFill>
                <a:latin typeface="Aptos"/>
              </a:rPr>
              <a:t>Libraries / Models: Streamlit dashboard; no ML 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444752"/>
            <a:ext cx="5477256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444752"/>
            <a:ext cx="64008" cy="1920240"/>
          </a:xfrm>
          <a:prstGeom prst="rect">
            <a:avLst/>
          </a:prstGeom>
          <a:solidFill>
            <a:srgbClr val="EE911A"/>
          </a:solidFill>
          <a:ln>
            <a:solidFill>
              <a:srgbClr val="EE91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09344"/>
            <a:ext cx="512978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500" b="1" i="0">
                <a:solidFill>
                  <a:srgbClr val="08204B"/>
                </a:solidFill>
                <a:latin typeface="Aptos"/>
              </a:rPr>
              <a:t>Security Controls (current status)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20824"/>
            <a:ext cx="5129784" cy="12252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280" b="0" i="0">
                <a:solidFill>
                  <a:srgbClr val="5C697A"/>
                </a:solidFill>
                <a:latin typeface="Aptos"/>
              </a:rPr>
              <a:t>Authentication: not implemented in prototype</a:t>
            </a:r>
          </a:p>
          <a:p>
            <a:pPr algn="l"/>
            <a:r>
              <a:rPr sz="1280" b="0" i="0">
                <a:solidFill>
                  <a:srgbClr val="5C697A"/>
                </a:solidFill>
                <a:latin typeface="Aptos"/>
              </a:rPr>
              <a:t>Authorization: not implemented (future work)</a:t>
            </a:r>
          </a:p>
          <a:p>
            <a:pPr algn="l"/>
            <a:r>
              <a:rPr sz="1280" b="0" i="0">
                <a:solidFill>
                  <a:srgbClr val="5C697A"/>
                </a:solidFill>
                <a:latin typeface="Aptos"/>
              </a:rPr>
              <a:t>Encryption: none; plain local HTTP</a:t>
            </a:r>
          </a:p>
          <a:p>
            <a:pPr algn="l"/>
            <a:r>
              <a:rPr sz="1280" b="0" i="0">
                <a:solidFill>
                  <a:srgbClr val="5C697A"/>
                </a:solidFill>
                <a:latin typeface="Aptos"/>
              </a:rPr>
              <a:t>Integrity / Logging: reports kept in local SQLite</a:t>
            </a:r>
          </a:p>
          <a:p>
            <a:pPr algn="l"/>
            <a:r>
              <a:rPr sz="1280" b="0" i="0">
                <a:solidFill>
                  <a:srgbClr val="5C697A"/>
                </a:solidFill>
                <a:latin typeface="Aptos"/>
              </a:rPr>
              <a:t>Threat Detection / Response: threat model planned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767328"/>
            <a:ext cx="5486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800" b="1" i="0">
                <a:solidFill>
                  <a:srgbClr val="08204B"/>
                </a:solidFill>
                <a:latin typeface="Aptos"/>
              </a:rPr>
              <a:t>Security-by-design: now and planned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315968"/>
            <a:ext cx="32461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16552"/>
            <a:ext cx="256032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218E5B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25696"/>
            <a:ext cx="251460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191F28"/>
                </a:solidFill>
                <a:latin typeface="Aptos"/>
              </a:rPr>
              <a:t>Local-first data (no cloud)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4315968"/>
            <a:ext cx="32461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4416552"/>
            <a:ext cx="256032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218E5B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59" y="4425696"/>
            <a:ext cx="251460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191F28"/>
                </a:solidFill>
                <a:latin typeface="Aptos"/>
              </a:rPr>
              <a:t>Not exposed to public internet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4315968"/>
            <a:ext cx="32461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4416552"/>
            <a:ext cx="256032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218E5B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425696"/>
            <a:ext cx="251460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191F28"/>
                </a:solidFill>
                <a:latin typeface="Aptos"/>
              </a:rPr>
              <a:t>Test-labelled SOS only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047488"/>
            <a:ext cx="32461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148072"/>
            <a:ext cx="256032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EE911A"/>
                </a:solidFill>
                <a:latin typeface="Aptos"/>
              </a:rPr>
              <a:t>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157216"/>
            <a:ext cx="251460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191F28"/>
                </a:solidFill>
                <a:latin typeface="Aptos"/>
              </a:rPr>
              <a:t>Input validation (planned)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5047488"/>
            <a:ext cx="32461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5148072"/>
            <a:ext cx="256032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EE911A"/>
                </a:solidFill>
                <a:latin typeface="Aptos"/>
              </a:rPr>
              <a:t>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59" y="5157216"/>
            <a:ext cx="251460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191F28"/>
                </a:solidFill>
                <a:latin typeface="Aptos"/>
              </a:rPr>
              <a:t>Auth and encryption (planned)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5047488"/>
            <a:ext cx="32461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5148072"/>
            <a:ext cx="256032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EE911A"/>
                </a:solidFill>
                <a:latin typeface="Aptos"/>
              </a:rPr>
              <a:t>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5157216"/>
            <a:ext cx="251460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191F28"/>
                </a:solidFill>
                <a:latin typeface="Aptos"/>
              </a:rPr>
              <a:t>Threat model (planned)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5C697A"/>
                </a:solidFill>
                <a:latin typeface="Aptos"/>
              </a:rPr>
              <a:t>OPCODE IMPACT 2026  •  24-Hour National Level Hackathon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1460BE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60BE"/>
          </a:solidFill>
          <a:ln>
            <a:solidFill>
              <a:srgbClr val="14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8696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8204B"/>
                </a:solidFill>
                <a:latin typeface="Aptos"/>
              </a:rPr>
              <a:t>5. SDG Alignment &amp; Societal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789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C697A"/>
                </a:solidFill>
                <a:latin typeface="Aptos"/>
              </a:rPr>
              <a:t>Supporting disaster resilience through offline emergency reporting.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5087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1" i="0">
                <a:solidFill>
                  <a:srgbClr val="1460BE"/>
                </a:solidFill>
                <a:latin typeface="Aptos"/>
              </a:rPr>
              <a:t>IMPACT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127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417320"/>
            <a:ext cx="3703320" cy="4526280"/>
          </a:xfrm>
          <a:prstGeom prst="roundRect">
            <a:avLst/>
          </a:prstGeom>
          <a:solidFill>
            <a:srgbClr val="08204B"/>
          </a:solidFill>
          <a:ln>
            <a:solidFill>
              <a:srgbClr val="082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55648"/>
            <a:ext cx="31546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34AADC"/>
                </a:solidFill>
                <a:latin typeface="Aptos"/>
              </a:rPr>
              <a:t>PRIMARY SDG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31546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ptos"/>
              </a:rPr>
              <a:t>SDG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31546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Sustainable Cities and Communities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86200"/>
            <a:ext cx="306324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/>
            <a:r>
              <a:rPr sz="1300" b="0" i="0">
                <a:solidFill>
                  <a:srgbClr val="DCE8F8"/>
                </a:solidFill>
                <a:latin typeface="Aptos"/>
              </a:rPr>
              <a:t>Supports Target 11.5: reducing the impact of disasters, by exploring emergency reporting that keeps working when networks fail.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36592" y="1417320"/>
            <a:ext cx="32461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36592" y="1417320"/>
            <a:ext cx="64008" cy="2148840"/>
          </a:xfrm>
          <a:prstGeom prst="rect">
            <a:avLst/>
          </a:prstGeom>
          <a:solidFill>
            <a:srgbClr val="1460BE"/>
          </a:solidFill>
          <a:ln>
            <a:solidFill>
              <a:srgbClr val="14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59" y="1581912"/>
            <a:ext cx="28986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500" b="1" i="0">
                <a:solidFill>
                  <a:srgbClr val="08204B"/>
                </a:solidFill>
                <a:latin typeface="Aptos"/>
              </a:rPr>
              <a:t>Resilience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1993392"/>
            <a:ext cx="2898648" cy="1453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C697A"/>
                </a:solidFill>
                <a:latin typeface="Aptos"/>
              </a:rPr>
              <a:t>• Risk: SOS cannot be sent when networks fail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C697A"/>
                </a:solidFill>
                <a:latin typeface="Aptos"/>
              </a:rPr>
              <a:t>• Capability: local capture, queue, retry, triage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C697A"/>
                </a:solidFill>
                <a:latin typeface="Aptos"/>
              </a:rPr>
              <a:t>• Expected: verified offline delivery (future)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417320"/>
            <a:ext cx="3401568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417320"/>
            <a:ext cx="64008" cy="2148840"/>
          </a:xfrm>
          <a:prstGeom prst="rect">
            <a:avLst/>
          </a:prstGeom>
          <a:solidFill>
            <a:srgbClr val="218E5B"/>
          </a:solidFill>
          <a:ln>
            <a:solidFill>
              <a:srgbClr val="21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1581912"/>
            <a:ext cx="305409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8204B"/>
                </a:solidFill>
                <a:latin typeface="Aptos"/>
              </a:rPr>
              <a:t>Social / Environmental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1993392"/>
            <a:ext cx="3054096" cy="1453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C697A"/>
                </a:solidFill>
                <a:latin typeface="Aptos"/>
              </a:rPr>
              <a:t>• Who benefits: people in disaster zones and responders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C697A"/>
                </a:solidFill>
                <a:latin typeface="Aptos"/>
              </a:rPr>
              <a:t>• Sustainability: aims to keep help requests flowing during outages and strengthen community resilience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36592" y="3794760"/>
            <a:ext cx="6894576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36592" y="3794760"/>
            <a:ext cx="64008" cy="2148840"/>
          </a:xfrm>
          <a:prstGeom prst="rect">
            <a:avLst/>
          </a:prstGeom>
          <a:solidFill>
            <a:srgbClr val="EE911A"/>
          </a:solidFill>
          <a:ln>
            <a:solidFill>
              <a:srgbClr val="EE91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59" y="3959352"/>
            <a:ext cx="6547104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8204B"/>
                </a:solidFill>
                <a:latin typeface="Aptos"/>
              </a:rPr>
              <a:t>Impact 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59" y="4370832"/>
            <a:ext cx="6547104" cy="1453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280" b="0" i="0">
                <a:solidFill>
                  <a:srgbClr val="5C697A"/>
                </a:solidFill>
                <a:latin typeface="Aptos"/>
              </a:rPr>
              <a:t>Baseline: no network, so no way to send or view SOS reports</a:t>
            </a:r>
          </a:p>
          <a:p>
            <a:pPr algn="l">
              <a:spcAft>
                <a:spcPts val="300"/>
              </a:spcAft>
            </a:pPr>
            <a:r>
              <a:rPr sz="1280" b="0" i="0">
                <a:solidFill>
                  <a:srgbClr val="5C697A"/>
                </a:solidFill>
                <a:latin typeface="Aptos"/>
              </a:rPr>
              <a:t>Prototype: local SOS capture + dashboard (delivery unverified)</a:t>
            </a:r>
          </a:p>
          <a:p>
            <a:pPr algn="l">
              <a:spcAft>
                <a:spcPts val="300"/>
              </a:spcAft>
            </a:pPr>
            <a:r>
              <a:rPr sz="1280" b="0" i="0">
                <a:solidFill>
                  <a:srgbClr val="5C697A"/>
                </a:solidFill>
                <a:latin typeface="Aptos"/>
              </a:rPr>
              <a:t>Target: verified offline delivery with acknowledgement, then multi-hop relay</a:t>
            </a:r>
          </a:p>
          <a:p>
            <a:pPr algn="l">
              <a:spcAft>
                <a:spcPts val="300"/>
              </a:spcAft>
            </a:pPr>
            <a:endParaRPr sz="1280"/>
          </a:p>
          <a:p>
            <a:pPr algn="l">
              <a:spcAft>
                <a:spcPts val="300"/>
              </a:spcAft>
            </a:pPr>
            <a:r>
              <a:rPr sz="1280" b="0" i="0">
                <a:solidFill>
                  <a:srgbClr val="5C697A"/>
                </a:solidFill>
                <a:latin typeface="Aptos"/>
              </a:rPr>
              <a:t>No quantitative metrics have been measured yet.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5C697A"/>
                </a:solidFill>
                <a:latin typeface="Aptos"/>
              </a:rPr>
              <a:t>OPCODE IMPACT 2026  •  24-Hour National Level Hackathon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1460BE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60BE"/>
          </a:solidFill>
          <a:ln>
            <a:solidFill>
              <a:srgbClr val="14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8696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8204B"/>
                </a:solidFill>
                <a:latin typeface="Aptos"/>
              </a:rPr>
              <a:t>6. Prototype /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789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C697A"/>
                </a:solidFill>
                <a:latin typeface="Aptos"/>
              </a:rPr>
              <a:t>Phone SOS interface, laptop dashboard and a screen recording.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5087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1" i="0">
                <a:solidFill>
                  <a:srgbClr val="1460BE"/>
                </a:solidFill>
                <a:latin typeface="Aptos"/>
              </a:rPr>
              <a:t>DEMO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127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371600"/>
            <a:ext cx="1554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681728"/>
            <a:ext cx="1554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/>
            <a:r>
              <a:rPr sz="1200" b="1" i="0">
                <a:solidFill>
                  <a:srgbClr val="08204B"/>
                </a:solidFill>
                <a:latin typeface="Aptos"/>
              </a:rPr>
              <a:t>Phone SOS 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95728" y="1371600"/>
            <a:ext cx="54864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95728" y="4681728"/>
            <a:ext cx="5486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/>
            <a:r>
              <a:rPr sz="1200" b="1" i="0">
                <a:solidFill>
                  <a:srgbClr val="08204B"/>
                </a:solidFill>
                <a:latin typeface="Aptos"/>
              </a:rPr>
              <a:t>Laptop response dashboard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371600"/>
            <a:ext cx="35661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645920"/>
            <a:ext cx="30175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/>
            <a:r>
              <a:rPr sz="1500" b="1" i="0">
                <a:solidFill>
                  <a:srgbClr val="5C697A"/>
                </a:solidFill>
                <a:latin typeface="Aptos"/>
              </a:rPr>
              <a:t>Screen recording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103120"/>
            <a:ext cx="3017520" cy="2286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/>
            <a:r>
              <a:rPr sz="1250" b="0" i="0">
                <a:solidFill>
                  <a:srgbClr val="5C697A"/>
                </a:solidFill>
                <a:latin typeface="Aptos"/>
              </a:rPr>
              <a:t>A trimmed, fast-forwarded screen recording (25 MB limit) is included with the submission for a clearer walkthrough of the project.</a:t>
            </a:r>
          </a:p>
          <a:p>
            <a:pPr algn="ctr"/>
            <a:endParaRPr sz="1250"/>
          </a:p>
          <a:p>
            <a:pPr algn="ctr"/>
            <a:r>
              <a:rPr sz="1250" b="0" i="0">
                <a:solidFill>
                  <a:srgbClr val="5C697A"/>
                </a:solidFill>
                <a:latin typeface="Aptos"/>
              </a:rPr>
              <a:t>Dashboard counts in the screenshot are demo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4681728"/>
            <a:ext cx="3566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/>
            <a:r>
              <a:rPr sz="1200" b="1" i="0">
                <a:solidFill>
                  <a:srgbClr val="08204B"/>
                </a:solidFill>
                <a:latin typeface="Aptos"/>
              </a:rPr>
              <a:t>Result /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120640"/>
            <a:ext cx="10954512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5120640"/>
            <a:ext cx="64008" cy="1188720"/>
          </a:xfrm>
          <a:prstGeom prst="rect">
            <a:avLst/>
          </a:prstGeom>
          <a:solidFill>
            <a:srgbClr val="1460BE"/>
          </a:solidFill>
          <a:ln>
            <a:solidFill>
              <a:srgbClr val="14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5230368"/>
            <a:ext cx="106070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8204B"/>
                </a:solidFill>
                <a:latin typeface="Aptos"/>
              </a:rPr>
              <a:t>Demo Highlight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5614416"/>
            <a:ext cx="106070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300" b="0" i="0">
                <a:solidFill>
                  <a:srgbClr val="5C697A"/>
                </a:solidFill>
                <a:latin typeface="Aptos"/>
              </a:rPr>
              <a:t>Mobile SOS interface with an offline pending queue and retry, plus a laptop dashboard for managing incident reports. Phone-to-laptop delivery is not yet verified end to end.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5C697A"/>
                </a:solidFill>
                <a:latin typeface="Aptos"/>
              </a:rPr>
              <a:t>OPCODE IMPACT 2026  •  24-Hour National Level Hackathon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1460BE"/>
                </a:solidFill>
                <a:latin typeface="Aptos"/>
              </a:rPr>
              <a:t>07</a:t>
            </a:r>
          </a:p>
        </p:txBody>
      </p:sp>
      <p:pic>
        <p:nvPicPr>
          <p:cNvPr id="29" name="Picture 28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64" y="1508760"/>
            <a:ext cx="966287" cy="2926080"/>
          </a:xfrm>
          <a:prstGeom prst="rect">
            <a:avLst/>
          </a:prstGeom>
        </p:spPr>
      </p:pic>
      <p:pic>
        <p:nvPicPr>
          <p:cNvPr id="30" name="Picture 29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0472" y="1508760"/>
            <a:ext cx="5176911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60BE"/>
          </a:solidFill>
          <a:ln>
            <a:solidFill>
              <a:srgbClr val="14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8696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8204B"/>
                </a:solidFill>
                <a:latin typeface="Aptos"/>
              </a:rPr>
              <a:t>7. Results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789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C697A"/>
                </a:solidFill>
                <a:latin typeface="Aptos"/>
              </a:rPr>
              <a:t>Honest evidence from the latest local 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5087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1" i="0">
                <a:solidFill>
                  <a:srgbClr val="1460BE"/>
                </a:solidFill>
                <a:latin typeface="Aptos"/>
              </a:rPr>
              <a:t>VALIDATION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127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481328"/>
            <a:ext cx="257860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19072"/>
            <a:ext cx="2240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/>
            <a:r>
              <a:rPr sz="1100" b="1" i="0">
                <a:solidFill>
                  <a:srgbClr val="5C697A"/>
                </a:solidFill>
                <a:latin typeface="Aptos"/>
              </a:rPr>
              <a:t>End-to-End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03120"/>
            <a:ext cx="2240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/>
            <a:r>
              <a:rPr sz="1800" b="1" i="0">
                <a:solidFill>
                  <a:srgbClr val="1460BE"/>
                </a:solidFill>
                <a:latin typeface="Aptos"/>
              </a:rPr>
              <a:t>Unverified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9856" y="1481328"/>
            <a:ext cx="257860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719072"/>
            <a:ext cx="2240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/>
            <a:r>
              <a:rPr sz="1100" b="1" i="0">
                <a:solidFill>
                  <a:srgbClr val="5C697A"/>
                </a:solidFill>
                <a:latin typeface="Aptos"/>
              </a:rPr>
              <a:t>Response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103120"/>
            <a:ext cx="2240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/>
            <a:r>
              <a:rPr sz="1800" b="1" i="0">
                <a:solidFill>
                  <a:srgbClr val="EE911A"/>
                </a:solidFill>
                <a:latin typeface="Aptos"/>
              </a:rPr>
              <a:t>Not measured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481328"/>
            <a:ext cx="257860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719072"/>
            <a:ext cx="2240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/>
            <a:r>
              <a:rPr sz="1100" b="1" i="0">
                <a:solidFill>
                  <a:srgbClr val="5C697A"/>
                </a:solidFill>
                <a:latin typeface="Aptos"/>
              </a:rPr>
              <a:t>Mesh Relay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103120"/>
            <a:ext cx="2240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/>
            <a:r>
              <a:rPr sz="1800" b="1" i="0">
                <a:solidFill>
                  <a:srgbClr val="218E5B"/>
                </a:solidFill>
                <a:latin typeface="Aptos"/>
              </a:rPr>
              <a:t>Simulated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42832" y="1481328"/>
            <a:ext cx="257860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7424" y="1719072"/>
            <a:ext cx="2240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/>
            <a:r>
              <a:rPr sz="1100" b="1" i="0">
                <a:solidFill>
                  <a:srgbClr val="5C697A"/>
                </a:solidFill>
                <a:latin typeface="Aptos"/>
              </a:rPr>
              <a:t>Devices Tested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7424" y="2103120"/>
            <a:ext cx="2240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/>
            <a:r>
              <a:rPr sz="1800" b="1" i="0">
                <a:solidFill>
                  <a:srgbClr val="34AADC"/>
                </a:solidFill>
                <a:latin typeface="Aptos"/>
              </a:rPr>
              <a:t>2 devices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246120"/>
            <a:ext cx="5321808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246120"/>
            <a:ext cx="64008" cy="2240280"/>
          </a:xfrm>
          <a:prstGeom prst="rect">
            <a:avLst/>
          </a:prstGeom>
          <a:solidFill>
            <a:srgbClr val="1460BE"/>
          </a:solidFill>
          <a:ln>
            <a:solidFill>
              <a:srgbClr val="14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410712"/>
            <a:ext cx="497433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8204B"/>
                </a:solidFill>
                <a:latin typeface="Aptos"/>
              </a:rPr>
              <a:t>Test Setup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822191"/>
            <a:ext cx="4974336" cy="1545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C697A"/>
                </a:solidFill>
                <a:latin typeface="Aptos"/>
              </a:rPr>
              <a:t>Environment: one laptop + one phone on a local hotspot, no internet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C697A"/>
                </a:solidFill>
                <a:latin typeface="Aptos"/>
              </a:rPr>
              <a:t>Test case: a clearly labelled test SOS sent from the phone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C697A"/>
                </a:solidFill>
                <a:latin typeface="Aptos"/>
              </a:rPr>
              <a:t>Baseline / comparison: none measured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C697A"/>
                </a:solidFill>
                <a:latin typeface="Aptos"/>
              </a:rPr>
              <a:t>Key observation: the SOS stayed pending and did not reach the laptop inbox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246120"/>
            <a:ext cx="5413248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9632" y="3246120"/>
            <a:ext cx="64008" cy="2240280"/>
          </a:xfrm>
          <a:prstGeom prst="rect">
            <a:avLst/>
          </a:prstGeom>
          <a:solidFill>
            <a:srgbClr val="EE911A"/>
          </a:solidFill>
          <a:ln>
            <a:solidFill>
              <a:srgbClr val="EE91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410712"/>
            <a:ext cx="506577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8204B"/>
                </a:solidFill>
                <a:latin typeface="Aptos"/>
              </a:rPr>
              <a:t>Limitations / Risks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822191"/>
            <a:ext cx="5065776" cy="1545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C697A"/>
                </a:solidFill>
                <a:latin typeface="Aptos"/>
              </a:rPr>
              <a:t>• Current limitation: phone-to-laptop delivery is unverified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C697A"/>
                </a:solidFill>
                <a:latin typeface="Aptos"/>
              </a:rPr>
              <a:t>• Known edge case: phone GPS may be blocked on plain local HTTP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C697A"/>
                </a:solidFill>
                <a:latin typeface="Aptos"/>
              </a:rPr>
              <a:t>• Security assumption: trusted private local network only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C697A"/>
                </a:solidFill>
                <a:latin typeface="Aptos"/>
              </a:rPr>
              <a:t>• Needs validation: delivery, acknowledgement, duplicates and retry under outages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5C697A"/>
                </a:solidFill>
                <a:latin typeface="Aptos"/>
              </a:rPr>
              <a:t>OPCODE IMPACT 2026  •  24-Hour National Level Hackathon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1460BE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60BE"/>
          </a:solidFill>
          <a:ln>
            <a:solidFill>
              <a:srgbClr val="14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8696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8204B"/>
                </a:solidFill>
                <a:latin typeface="Aptos"/>
              </a:rPr>
              <a:t>8.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789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C697A"/>
                </a:solidFill>
                <a:latin typeface="Aptos"/>
              </a:rPr>
              <a:t>From verified delivery to a tested offline mesh.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5087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1" i="0">
                <a:solidFill>
                  <a:srgbClr val="1460BE"/>
                </a:solidFill>
                <a:latin typeface="Aptos"/>
              </a:rPr>
              <a:t>ROADMAP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127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600200"/>
            <a:ext cx="251460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28800"/>
            <a:ext cx="21488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1460BE"/>
                </a:solidFill>
                <a:latin typeface="Aptos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67712"/>
            <a:ext cx="214884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08204B"/>
                </a:solidFill>
                <a:latin typeface="Aptos"/>
              </a:rPr>
              <a:t>Prototype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42415" y="2880360"/>
            <a:ext cx="1746505" cy="0"/>
          </a:xfrm>
          <a:prstGeom prst="line">
            <a:avLst/>
          </a:prstGeom>
          <a:ln w="21590">
            <a:solidFill>
              <a:srgbClr val="EE9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32688" y="3246120"/>
            <a:ext cx="196596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/>
            <a:r>
              <a:rPr sz="1200" b="0" i="0">
                <a:solidFill>
                  <a:srgbClr val="5C697A"/>
                </a:solidFill>
                <a:latin typeface="Aptos"/>
              </a:rPr>
              <a:t>Phone SOS page, local database and dashboard built; delivery path to be verified.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9856" y="1600200"/>
            <a:ext cx="251460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2736" y="1828800"/>
            <a:ext cx="21488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1460BE"/>
                </a:solidFill>
                <a:latin typeface="Aptos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2267712"/>
            <a:ext cx="214884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08204B"/>
                </a:solidFill>
                <a:latin typeface="Aptos"/>
              </a:rPr>
              <a:t>Pilot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03904" y="2880360"/>
            <a:ext cx="1746504" cy="0"/>
          </a:xfrm>
          <a:prstGeom prst="line">
            <a:avLst/>
          </a:prstGeom>
          <a:ln w="21590">
            <a:solidFill>
              <a:srgbClr val="EE9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94176" y="3246120"/>
            <a:ext cx="196596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/>
            <a:r>
              <a:rPr sz="1200" b="0" i="0">
                <a:solidFill>
                  <a:srgbClr val="5C697A"/>
                </a:solidFill>
                <a:latin typeface="Aptos"/>
              </a:rPr>
              <a:t>Fix and verify delivery, add acknowledgement and status; test with several phones.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600200"/>
            <a:ext cx="251460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1828800"/>
            <a:ext cx="21488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1460BE"/>
                </a:solidFill>
                <a:latin typeface="Aptos"/>
              </a:rPr>
              <a:t>LATER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267712"/>
            <a:ext cx="214884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08204B"/>
                </a:solidFill>
                <a:latin typeface="Aptos"/>
              </a:rPr>
              <a:t>Scale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65392" y="2880360"/>
            <a:ext cx="1746504" cy="0"/>
          </a:xfrm>
          <a:prstGeom prst="line">
            <a:avLst/>
          </a:prstGeom>
          <a:ln w="21590">
            <a:solidFill>
              <a:srgbClr val="EE9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55664" y="3246120"/>
            <a:ext cx="196596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/>
            <a:r>
              <a:rPr sz="1200" b="0" i="0">
                <a:solidFill>
                  <a:srgbClr val="5C697A"/>
                </a:solidFill>
                <a:latin typeface="Aptos"/>
              </a:rPr>
              <a:t>Bluetooth or Wi-Fi Direct transport; multi-hop relay, deduplication, expiry, store-and-forward.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42832" y="1600200"/>
            <a:ext cx="251460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1828800"/>
            <a:ext cx="21488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1460BE"/>
                </a:solidFill>
                <a:latin typeface="Aptos"/>
              </a:rPr>
              <a:t>BEYOND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2267712"/>
            <a:ext cx="214884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08204B"/>
                </a:solidFill>
                <a:latin typeface="Aptos"/>
              </a:rPr>
              <a:t>Impact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26880" y="2880360"/>
            <a:ext cx="1746504" cy="0"/>
          </a:xfrm>
          <a:prstGeom prst="line">
            <a:avLst/>
          </a:prstGeom>
          <a:ln w="21590">
            <a:solidFill>
              <a:srgbClr val="EE9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17152" y="3246120"/>
            <a:ext cx="196596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/>
            <a:r>
              <a:rPr sz="1200" b="0" i="0">
                <a:solidFill>
                  <a:srgbClr val="5C697A"/>
                </a:solidFill>
                <a:latin typeface="Aptos"/>
              </a:rPr>
              <a:t>Security protections and a threat model, privacy controls, then controlled field tests.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166360"/>
            <a:ext cx="105156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/>
            <a:r>
              <a:rPr sz="1350" b="0" i="1">
                <a:solidFill>
                  <a:srgbClr val="5C697A"/>
                </a:solidFill>
                <a:latin typeface="Aptos"/>
              </a:rPr>
              <a:t>Vision: a verified, secure offline relay that keeps emergency requests moving when networks fail.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5C697A"/>
                </a:solidFill>
                <a:latin typeface="Aptos"/>
              </a:rPr>
              <a:t>OPCODE IMPACT 2026  •  24-Hour National Level Hackathon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1460BE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60BE"/>
          </a:solidFill>
          <a:ln>
            <a:solidFill>
              <a:srgbClr val="14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8696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8204B"/>
                </a:solidFill>
                <a:latin typeface="Aptos"/>
              </a:rPr>
              <a:t>9. Team &amp;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789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C697A"/>
                </a:solidFill>
                <a:latin typeface="Aptos"/>
              </a:rPr>
              <a:t>Role-focused team overview.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5087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1" i="0">
                <a:solidFill>
                  <a:srgbClr val="1460BE"/>
                </a:solidFill>
                <a:latin typeface="Aptos"/>
              </a:rPr>
              <a:t>TEAM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70432"/>
            <a:ext cx="11000232" cy="0"/>
          </a:xfrm>
          <a:prstGeom prst="line">
            <a:avLst/>
          </a:prstGeom>
          <a:ln w="127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351276" y="1508760"/>
            <a:ext cx="251460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37660" y="1810512"/>
            <a:ext cx="941832" cy="941832"/>
          </a:xfrm>
          <a:prstGeom prst="roundRect">
            <a:avLst/>
          </a:prstGeom>
          <a:solidFill>
            <a:srgbClr val="E7F2FF"/>
          </a:solidFill>
          <a:ln>
            <a:solidFill>
              <a:srgbClr val="14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3108" y="2020824"/>
            <a:ext cx="621792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0" i="0">
                <a:solidFill>
                  <a:srgbClr val="1460BE"/>
                </a:solidFill>
                <a:latin typeface="Aptos"/>
              </a:rPr>
              <a:t>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2444" y="2999232"/>
            <a:ext cx="21031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1460BE"/>
                </a:solidFill>
                <a:latin typeface="Aptos"/>
              </a:rPr>
              <a:t>MEMBER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4155" y="3337560"/>
            <a:ext cx="21488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08204B"/>
                </a:solidFill>
                <a:latin typeface="Aptos"/>
              </a:rPr>
              <a:t>Mohamed Anas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2444" y="3794760"/>
            <a:ext cx="21031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/>
            <a:r>
              <a:rPr sz="1050" b="0" i="0">
                <a:solidFill>
                  <a:srgbClr val="5C697A"/>
                </a:solidFill>
                <a:latin typeface="Aptos"/>
              </a:rPr>
              <a:t>Concept, system design and frontend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3076" y="1508760"/>
            <a:ext cx="251460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09460" y="1810512"/>
            <a:ext cx="941832" cy="941832"/>
          </a:xfrm>
          <a:prstGeom prst="roundRect">
            <a:avLst/>
          </a:prstGeom>
          <a:solidFill>
            <a:srgbClr val="E7F2FF"/>
          </a:solidFill>
          <a:ln>
            <a:solidFill>
              <a:srgbClr val="14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4908" y="2020824"/>
            <a:ext cx="621792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0" i="0">
                <a:solidFill>
                  <a:srgbClr val="1460BE"/>
                </a:solidFill>
                <a:latin typeface="Aptos"/>
              </a:rPr>
              <a:t>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244" y="2999232"/>
            <a:ext cx="21031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1460BE"/>
                </a:solidFill>
                <a:latin typeface="Aptos"/>
              </a:rPr>
              <a:t>MEMBER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5956" y="3337560"/>
            <a:ext cx="21488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08204B"/>
                </a:solidFill>
                <a:latin typeface="Aptos"/>
              </a:rPr>
              <a:t>Sathyaseelan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244" y="3794760"/>
            <a:ext cx="21031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/>
            <a:r>
              <a:rPr sz="1050" b="0" i="0">
                <a:solidFill>
                  <a:srgbClr val="5C697A"/>
                </a:solidFill>
                <a:latin typeface="Aptos"/>
              </a:rPr>
              <a:t>Support throughout project development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800600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800600"/>
            <a:ext cx="64008" cy="914400"/>
          </a:xfrm>
          <a:prstGeom prst="rect">
            <a:avLst/>
          </a:prstGeom>
          <a:solidFill>
            <a:srgbClr val="1460BE"/>
          </a:solidFill>
          <a:ln>
            <a:solidFill>
              <a:srgbClr val="14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4965192"/>
            <a:ext cx="1062532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8204B"/>
                </a:solidFill>
                <a:latin typeface="Aptos"/>
              </a:rPr>
              <a:t>Contact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5376672"/>
            <a:ext cx="1062532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250" b="0" i="0">
                <a:solidFill>
                  <a:srgbClr val="5C697A"/>
                </a:solidFill>
                <a:latin typeface="Aptos"/>
              </a:rPr>
              <a:t>GitHub / Demo: project repository and screen recording submitted with this entry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5C697A"/>
                </a:solidFill>
                <a:latin typeface="Aptos"/>
              </a:rPr>
              <a:t>OPCODE IMPACT 2026  •  24-Hour National Level Hackathon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1460B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04B"/>
          </a:solidFill>
          <a:ln>
            <a:solidFill>
              <a:srgbClr val="082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E911A"/>
          </a:solidFill>
          <a:ln>
            <a:solidFill>
              <a:srgbClr val="EE91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9848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34AADC"/>
                </a:solidFill>
                <a:latin typeface="Aptos"/>
              </a:rPr>
              <a:t>Secure Today, Sustain Tomorrow.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0" y="2606040"/>
            <a:ext cx="4507992" cy="0"/>
          </a:xfrm>
          <a:prstGeom prst="line">
            <a:avLst/>
          </a:prstGeom>
          <a:ln w="27940">
            <a:solidFill>
              <a:srgbClr val="EE9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2971800"/>
            <a:ext cx="106984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ptos"/>
              </a:rPr>
              <a:t>ResQMesh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698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0" i="0">
                <a:solidFill>
                  <a:srgbClr val="DCE8F8"/>
                </a:solidFill>
                <a:latin typeface="Aptos"/>
              </a:rPr>
              <a:t>Team: The Innovators   •   Track: SDG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10698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B9CDE8"/>
                </a:solidFill>
                <a:latin typeface="Aptos"/>
              </a:rPr>
              <a:t>OPCODE IMPACT 2026  |  9–10 October 2026  |  Jyothi Engineering College (Autonomous)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6984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EE911A"/>
                </a:solidFill>
                <a:latin typeface="Apto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